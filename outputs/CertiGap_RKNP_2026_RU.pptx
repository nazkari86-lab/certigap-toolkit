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0e8840ae854902" /><Relationship Type="http://schemas.openxmlformats.org/officeDocument/2006/relationships/extended-properties" Target="/docProps/app.xml" Id="Rd7448bdfa60f4613" /><Relationship Type="http://schemas.openxmlformats.org/officeDocument/2006/relationships/officeDocument" Target="/ppt/presentation.xml" Id="R2c3a0705dd1840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d3364eb5184c84"/>
  </p:sldMasterIdLst>
  <p:notesMasterIdLst>
    <p:notesMasterId xmlns:r="http://schemas.openxmlformats.org/officeDocument/2006/relationships" r:id="Rcd42de5ee48a4cbc"/>
  </p:notesMasterIdLst>
  <p:sldIdLst>
    <p:sldId xmlns:r="http://schemas.openxmlformats.org/officeDocument/2006/relationships" id="256" r:id="R03730af19efd4bd5"/>
    <p:sldId xmlns:r="http://schemas.openxmlformats.org/officeDocument/2006/relationships" id="257" r:id="R130c56d0ecbd449c"/>
    <p:sldId xmlns:r="http://schemas.openxmlformats.org/officeDocument/2006/relationships" id="258" r:id="Rc76abfbb9ea44658"/>
    <p:sldId xmlns:r="http://schemas.openxmlformats.org/officeDocument/2006/relationships" id="259" r:id="R529e36b97c994133"/>
    <p:sldId xmlns:r="http://schemas.openxmlformats.org/officeDocument/2006/relationships" id="260" r:id="R5d262e26eddc4dec"/>
    <p:sldId xmlns:r="http://schemas.openxmlformats.org/officeDocument/2006/relationships" id="261" r:id="Rd5aa1976c6e94f6a"/>
    <p:sldId xmlns:r="http://schemas.openxmlformats.org/officeDocument/2006/relationships" id="262" r:id="R9dd54d0fadfb4c69"/>
    <p:sldId xmlns:r="http://schemas.openxmlformats.org/officeDocument/2006/relationships" id="263" r:id="R2c5ce0cf3bd640d2"/>
    <p:sldId xmlns:r="http://schemas.openxmlformats.org/officeDocument/2006/relationships" id="264" r:id="Re163b4d44bb34da1"/>
    <p:sldId xmlns:r="http://schemas.openxmlformats.org/officeDocument/2006/relationships" id="265" r:id="R68d09a4d12554545"/>
    <p:sldId xmlns:r="http://schemas.openxmlformats.org/officeDocument/2006/relationships" id="266" r:id="Rc6550f51f1434827"/>
    <p:sldId xmlns:r="http://schemas.openxmlformats.org/officeDocument/2006/relationships" id="267" r:id="R54fffe08c6e74c09"/>
    <p:sldId xmlns:r="http://schemas.openxmlformats.org/officeDocument/2006/relationships" id="268" r:id="Ra05285ceac094f76"/>
    <p:sldId xmlns:r="http://schemas.openxmlformats.org/officeDocument/2006/relationships" id="269" r:id="Rf25d2c57446147cc"/>
    <p:sldId xmlns:r="http://schemas.openxmlformats.org/officeDocument/2006/relationships" id="270" r:id="R51827663d98f4517"/>
    <p:sldId xmlns:r="http://schemas.openxmlformats.org/officeDocument/2006/relationships" id="271" r:id="Rffbf10aa81dd465b"/>
    <p:sldId xmlns:r="http://schemas.openxmlformats.org/officeDocument/2006/relationships" id="272" r:id="R28aa994788944e4c"/>
    <p:sldId xmlns:r="http://schemas.openxmlformats.org/officeDocument/2006/relationships" id="273" r:id="R0197b49f649244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36dfcac8b3495c" /><Relationship Type="http://schemas.openxmlformats.org/officeDocument/2006/relationships/slideMaster" Target="/ppt/slideMasters/slideMaster1.xml" Id="R38d3364eb5184c84" /><Relationship Type="http://schemas.openxmlformats.org/officeDocument/2006/relationships/notesMaster" Target="/ppt/notesMasters/notesMaster1.xml" Id="Rcd42de5ee48a4cbc" /><Relationship Type="http://schemas.openxmlformats.org/officeDocument/2006/relationships/presProps" Target="/ppt/presProps.xml" Id="R31104e4c481d4d1f" /><Relationship Type="http://schemas.openxmlformats.org/officeDocument/2006/relationships/tableStyles" Target="/ppt/tableStyles.xml" Id="R07ede956f71d4891" /><Relationship Type="http://schemas.openxmlformats.org/officeDocument/2006/relationships/slide" Target="/ppt/slides/slide1.xml" Id="R03730af19efd4bd5" /><Relationship Type="http://schemas.openxmlformats.org/officeDocument/2006/relationships/slide" Target="/ppt/slides/slide2.xml" Id="R130c56d0ecbd449c" /><Relationship Type="http://schemas.openxmlformats.org/officeDocument/2006/relationships/slide" Target="/ppt/slides/slide3.xml" Id="Rc76abfbb9ea44658" /><Relationship Type="http://schemas.openxmlformats.org/officeDocument/2006/relationships/slide" Target="/ppt/slides/slide4.xml" Id="R529e36b97c994133" /><Relationship Type="http://schemas.openxmlformats.org/officeDocument/2006/relationships/slide" Target="/ppt/slides/slide5.xml" Id="R5d262e26eddc4dec" /><Relationship Type="http://schemas.openxmlformats.org/officeDocument/2006/relationships/slide" Target="/ppt/slides/slide6.xml" Id="Rd5aa1976c6e94f6a" /><Relationship Type="http://schemas.openxmlformats.org/officeDocument/2006/relationships/slide" Target="/ppt/slides/slide7.xml" Id="R9dd54d0fadfb4c69" /><Relationship Type="http://schemas.openxmlformats.org/officeDocument/2006/relationships/slide" Target="/ppt/slides/slide8.xml" Id="R2c5ce0cf3bd640d2" /><Relationship Type="http://schemas.openxmlformats.org/officeDocument/2006/relationships/slide" Target="/ppt/slides/slide9.xml" Id="Re163b4d44bb34da1" /><Relationship Type="http://schemas.openxmlformats.org/officeDocument/2006/relationships/slide" Target="/ppt/slides/slide10.xml" Id="R68d09a4d12554545" /><Relationship Type="http://schemas.openxmlformats.org/officeDocument/2006/relationships/slide" Target="/ppt/slides/slide11.xml" Id="Rc6550f51f1434827" /><Relationship Type="http://schemas.openxmlformats.org/officeDocument/2006/relationships/slide" Target="/ppt/slides/slide12.xml" Id="R54fffe08c6e74c09" /><Relationship Type="http://schemas.openxmlformats.org/officeDocument/2006/relationships/slide" Target="/ppt/slides/slide13.xml" Id="Ra05285ceac094f76" /><Relationship Type="http://schemas.openxmlformats.org/officeDocument/2006/relationships/slide" Target="/ppt/slides/slide14.xml" Id="Rf25d2c57446147cc" /><Relationship Type="http://schemas.openxmlformats.org/officeDocument/2006/relationships/slide" Target="/ppt/slides/slide15.xml" Id="R51827663d98f4517" /><Relationship Type="http://schemas.openxmlformats.org/officeDocument/2006/relationships/slide" Target="/ppt/slides/slide16.xml" Id="Rffbf10aa81dd465b" /><Relationship Type="http://schemas.openxmlformats.org/officeDocument/2006/relationships/slide" Target="/ppt/slides/slide17.xml" Id="R28aa994788944e4c" /><Relationship Type="http://schemas.openxmlformats.org/officeDocument/2006/relationships/slide" Target="/ppt/slides/slide18.xml" Id="R0197b49f649244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aa8b1bae7944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3e0067f9b44db7" /><Relationship Type="http://schemas.openxmlformats.org/officeDocument/2006/relationships/notesMaster" Target="/ppt/notesMasters/notesMaster1.xml" Id="Rf9faf7c57d8d4f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1af36afedf4c72" /><Relationship Type="http://schemas.openxmlformats.org/officeDocument/2006/relationships/notesMaster" Target="/ppt/notesMasters/notesMaster1.xml" Id="R62ac159ea6f248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deb7b3cd384abc" /><Relationship Type="http://schemas.openxmlformats.org/officeDocument/2006/relationships/notesMaster" Target="/ppt/notesMasters/notesMaster1.xml" Id="R5d3c9ff514ef45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dbba3f41ec42a7" /><Relationship Type="http://schemas.openxmlformats.org/officeDocument/2006/relationships/notesMaster" Target="/ppt/notesMasters/notesMaster1.xml" Id="R9d000d7d201349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4bf2827ff44d49" /><Relationship Type="http://schemas.openxmlformats.org/officeDocument/2006/relationships/notesMaster" Target="/ppt/notesMasters/notesMaster1.xml" Id="R548d1c48659249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83c9513dd24f65" /><Relationship Type="http://schemas.openxmlformats.org/officeDocument/2006/relationships/notesMaster" Target="/ppt/notesMasters/notesMaster1.xml" Id="Rf4a227f4773247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59699036514a5b" /><Relationship Type="http://schemas.openxmlformats.org/officeDocument/2006/relationships/notesMaster" Target="/ppt/notesMasters/notesMaster1.xml" Id="R53dcbc26e0954b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717cc57b484087" /><Relationship Type="http://schemas.openxmlformats.org/officeDocument/2006/relationships/notesMaster" Target="/ppt/notesMasters/notesMaster1.xml" Id="R74abc4e2975c4f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ab31e4c0994b7a" /><Relationship Type="http://schemas.openxmlformats.org/officeDocument/2006/relationships/notesMaster" Target="/ppt/notesMasters/notesMaster1.xml" Id="R5efe99c529834e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a15ed88ac044b0" /><Relationship Type="http://schemas.openxmlformats.org/officeDocument/2006/relationships/notesMaster" Target="/ppt/notesMasters/notesMaster1.xml" Id="R0778a652cad24f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f1b435d44c4a55" /><Relationship Type="http://schemas.openxmlformats.org/officeDocument/2006/relationships/notesMaster" Target="/ppt/notesMasters/notesMaster1.xml" Id="R49043b68b67241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189d9a063b41e8" /><Relationship Type="http://schemas.openxmlformats.org/officeDocument/2006/relationships/notesMaster" Target="/ppt/notesMasters/notesMaster1.xml" Id="Rb1d9b6392a3345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fa03b42a324081" /><Relationship Type="http://schemas.openxmlformats.org/officeDocument/2006/relationships/notesMaster" Target="/ppt/notesMasters/notesMaster1.xml" Id="R606cac8271df45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84ce834b0549f2" /><Relationship Type="http://schemas.openxmlformats.org/officeDocument/2006/relationships/notesMaster" Target="/ppt/notesMasters/notesMaster1.xml" Id="R8fd79e7d503444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2ce3b10b5c4cdf" /><Relationship Type="http://schemas.openxmlformats.org/officeDocument/2006/relationships/notesMaster" Target="/ppt/notesMasters/notesMaster1.xml" Id="R424a00affcb84e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14e82e46c54f89" /><Relationship Type="http://schemas.openxmlformats.org/officeDocument/2006/relationships/notesMaster" Target="/ppt/notesMasters/notesMaster1.xml" Id="R30195f05d5c04a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3f4447c210432f" /><Relationship Type="http://schemas.openxmlformats.org/officeDocument/2006/relationships/notesMaster" Target="/ppt/notesMasters/notesMaster1.xml" Id="Re78e3733998b4dc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0ac27f9be2456b" /><Relationship Type="http://schemas.openxmlformats.org/officeDocument/2006/relationships/notesMaster" Target="/ppt/notesMasters/notesMaster1.xml" Id="R0a9fae146f4f42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Начните с одного предложения: CertiGap автоматически выбирает или синтезирует структуру данных под реальную нагрузку и выдаёт проверяемое объяснение своего выбора.</a:t>
            </a:r>
          </a:p>
          <a:p xmlns:a="http://schemas.openxmlformats.org/drawingml/2006/main">
            <a:r>
              <a:t>Не перечисляйте модули проекта на первом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Объясните, что задача проекта не сводится к ускорению одного алгоритма.</a:t>
            </a:r>
          </a:p>
          <a:p xmlns:a="http://schemas.openxmlformats.org/drawingml/2006/main">
            <a:r>
              <a:t>Разные структуры выигрывают при разных долях чтений, диапазонов и обновлений.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главный пример для всей защиты.</a:t>
            </a:r>
          </a:p>
          <a:p xmlns:a="http://schemas.openxmlformats.org/drawingml/2006/main">
            <a:r>
              <a:t>CertiGap не обязан ускорять холодные области. Он распределяет ограниченный бюджет в соответствии с частотой запросов.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Подчеркните проверяемость гипотезы: есть точный oracle на малых задачах и отдельные native holdout-тесты.</a:t>
            </a:r>
          </a:p>
          <a:p xmlns:a="http://schemas.openxmlformats.org/drawingml/2006/main">
            <a:r>
              <a:t>Objective gap и реальная задержка рассматриваются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углубляйтесь в вывод формулы, если жюри не спрашивает.</a:t>
            </a:r>
          </a:p>
          <a:p xmlns:a="http://schemas.openxmlformats.org/drawingml/2006/main">
            <a:r>
              <a:t>cost включает путь по материализованной части и резервный поиск внутри оставшегося интервала.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этом слайде объедините весь проект в одну линию.</a:t>
            </a:r>
          </a:p>
          <a:p xmlns:a="http://schemas.openxmlformats.org/drawingml/2006/main">
            <a:r>
              <a:t>Названия модулей являются этапами процесса, а не отдельными проектами.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важная защита от вопроса: зачем заменять Fenwick? Ответ: мы не заменяем его всегда, а включаем в проверяемый выбор.</a:t>
            </a:r>
          </a:p>
          <a:p xmlns:a="http://schemas.openxmlformats.org/drawingml/2006/main">
            <a:r>
              <a:t>Портфель поддерживает get, range, update и агрегаты sum/min/max в заявленной грамматике.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алгоритм нужен не только как реализация, но и как эталон для проверки эвристик.</a:t>
            </a:r>
          </a:p>
          <a:p xmlns:a="http://schemas.openxmlformats.org/drawingml/2006/main">
            <a:r>
              <a:t>One-step greedy имеет доказанное семейство контрпримеров с неограниченным additive gap.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Поясните: сертификат не доказывает fastest possible на любом процессоре.</a:t>
            </a:r>
          </a:p>
          <a:p xmlns:a="http://schemas.openxmlformats.org/drawingml/2006/main">
            <a:r>
              <a:t>Он подтверждает минимум объявленной структурной стоимости внутри заявленной грамматики или портфеля.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Главный научный результат: средняя относительная ошибка beam 0,02%, greedy 2,80%.</a:t>
            </a:r>
          </a:p>
          <a:p xmlns:a="http://schemas.openxmlformats.org/drawingml/2006/main">
            <a:r>
              <a:t>Не называйте 237/240 доказательством для всех входов. Это эмпирический результат тестовой матрицы.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честный systems result, привязанный к одной машине и конкретным сценариям.</a:t>
            </a:r>
          </a:p>
          <a:p xmlns:a="http://schemas.openxmlformats.org/drawingml/2006/main">
            <a:r>
              <a:t>Самый быстрый в 4 из 11 означает, что другие кандидаты портфеля иногда лучше — именно поэтому нужен AutoIndex.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 отрицательная граница усиливает научную честность работы.</a:t>
            </a:r>
          </a:p>
          <a:p xmlns:a="http://schemas.openxmlformats.org/drawingml/2006/main">
            <a:r>
              <a:t>CertiGap улучшает lower_bound в подходящих случаях, но специализированные Eytzinger и RadixSpline пока быстрее.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Статистические гарантии действуют только при указанных предпосылках: bounded observations и соответствующей модели независимости или conditional mean.</a:t>
            </a:r>
          </a:p>
          <a:p xmlns:a="http://schemas.openxmlformats.org/drawingml/2006/main">
            <a:r>
              <a:t>Они не гарантируют безопасность при произвольном будущем drift.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короткую live-демонстрацию только если она заранее проверена.</a:t>
            </a:r>
          </a:p>
          <a:p xmlns:a="http://schemas.openxmlformats.org/drawingml/2006/main">
            <a:r>
              <a:t>SQLite virtual table поддерживает planner-visible constraints, shadow storage, транзакции и mutations, но это ещё не production storage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Замените или уточните список личного вклада перед конкурсом вместе с научным руководителем.</a:t>
            </a:r>
          </a:p>
          <a:p xmlns:a="http://schemas.openxmlformats.org/drawingml/2006/main">
            <a:r>
              <a:t>Жюри РКНП отдельно оценивает самостоятельность, поэтому автор должен уметь объяснить каждый заявленный пункт.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скрывайте ограничения: они показывают, что структурная модель и wall-clock latency не смешиваются.</a:t>
            </a:r>
          </a:p>
          <a:p xmlns:a="http://schemas.openxmlformats.org/drawingml/2006/main">
            <a:r>
              <a:t>Самая важная внешняя работа — независимая репликация и официальный storage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Завершите той же формулой, с которой начали: workload + ограничения превращаются в структуру + код + сертификат.</a:t>
            </a:r>
          </a:p>
          <a:p xmlns:a="http://schemas.openxmlformats.org/drawingml/2006/main">
            <a:r>
              <a:t>После этого остановитесь и пригласите вопросы.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слайд можно оставить после финального и открывать при вопросах об источниках.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dbac3db8a44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a6c9d5fdea47bc" /><Relationship Type="http://schemas.openxmlformats.org/officeDocument/2006/relationships/slideLayout" Target="/ppt/slideLayouts/slideLayout1.xml" Id="R76e9eb6c59a04f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e9eb6c59a04f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6dd2d53b94507" /><Relationship Type="http://schemas.openxmlformats.org/officeDocument/2006/relationships/notesSlide" Target="/ppt/notesSlides/notesSlide1.xml" Id="R6b5fee2fb08441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fa11aa9874c15" /><Relationship Type="http://schemas.openxmlformats.org/officeDocument/2006/relationships/notesSlide" Target="/ppt/notesSlides/notesSlide2.xml" Id="Ra952d91ff8d542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184cdcff44fa6" /><Relationship Type="http://schemas.openxmlformats.org/officeDocument/2006/relationships/notesSlide" Target="/ppt/notesSlides/notesSlide3.xml" Id="R851d57feaa594d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3c6765f1e4b6c" /><Relationship Type="http://schemas.openxmlformats.org/officeDocument/2006/relationships/notesSlide" Target="/ppt/notesSlides/notesSlide4.xml" Id="Rebea3d7151134f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8575bd4c24570" /><Relationship Type="http://schemas.openxmlformats.org/officeDocument/2006/relationships/notesSlide" Target="/ppt/notesSlides/notesSlide5.xml" Id="Rea5405851fae42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1e35324a149cb" /><Relationship Type="http://schemas.openxmlformats.org/officeDocument/2006/relationships/notesSlide" Target="/ppt/notesSlides/notesSlide6.xml" Id="Race5545f859e46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f52d8ca204fe1" /><Relationship Type="http://schemas.openxmlformats.org/officeDocument/2006/relationships/notesSlide" Target="/ppt/notesSlides/notesSlide7.xml" Id="Re8a2f48b188046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b9166fd7f40a3" /><Relationship Type="http://schemas.openxmlformats.org/officeDocument/2006/relationships/notesSlide" Target="/ppt/notesSlides/notesSlide8.xml" Id="R51d9965d857e41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2b47143d643a9" /><Relationship Type="http://schemas.openxmlformats.org/officeDocument/2006/relationships/notesSlide" Target="/ppt/notesSlides/notesSlide9.xml" Id="R6f640ff0fd3e4a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af390566d4e7c" /><Relationship Type="http://schemas.openxmlformats.org/officeDocument/2006/relationships/chart" Target="/ppt/slides/charts/chart1.xml" Id="R9ddfcf390c754524" /><Relationship Type="http://schemas.openxmlformats.org/officeDocument/2006/relationships/notesSlide" Target="/ppt/notesSlides/notesSlide10.xml" Id="R57f04e8a73a84a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5f97e95454fd3" /><Relationship Type="http://schemas.openxmlformats.org/officeDocument/2006/relationships/notesSlide" Target="/ppt/notesSlides/notesSlide11.xml" Id="R048c0fa393b945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6e19ca9104030" /><Relationship Type="http://schemas.openxmlformats.org/officeDocument/2006/relationships/chart" Target="/ppt/slides/charts/chart2.xml" Id="Ra561541c010f4fc8" /><Relationship Type="http://schemas.openxmlformats.org/officeDocument/2006/relationships/notesSlide" Target="/ppt/notesSlides/notesSlide12.xml" Id="R1f09b690b37c41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67d2b1c74424b" /><Relationship Type="http://schemas.openxmlformats.org/officeDocument/2006/relationships/notesSlide" Target="/ppt/notesSlides/notesSlide13.xml" Id="R500edc55545841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0b6d354704187" /><Relationship Type="http://schemas.openxmlformats.org/officeDocument/2006/relationships/notesSlide" Target="/ppt/notesSlides/notesSlide14.xml" Id="Rfed8f16b87574f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aba845825450b" /><Relationship Type="http://schemas.openxmlformats.org/officeDocument/2006/relationships/notesSlide" Target="/ppt/notesSlides/notesSlide15.xml" Id="Rca6841567d8a42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8dee8f6ef4328" /><Relationship Type="http://schemas.openxmlformats.org/officeDocument/2006/relationships/notesSlide" Target="/ppt/notesSlides/notesSlide16.xml" Id="R0bf1b41e16d04c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63986aa244668" /><Relationship Type="http://schemas.openxmlformats.org/officeDocument/2006/relationships/notesSlide" Target="/ppt/notesSlides/notesSlide17.xml" Id="R524f6e8bb4bd4d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d3cf493aa4adb" /><Relationship Type="http://schemas.openxmlformats.org/officeDocument/2006/relationships/notesSlide" Target="/ppt/notesSlides/notesSlide18.xml" Id="R6c2e10e4de514b8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Средний relative objective gap, bp</c:v>
          </c:tx>
          <c:spPr>
            <a:solidFill xmlns:a="http://schemas.openxmlformats.org/drawingml/2006/main">
              <a:srgbClr val="F05A28"/>
            </a:solidFill>
          </c:spPr>
          <c:cat>
            <c:strLit>
              <c:ptCount val="2"/>
              <c:pt idx="0">
                <c:v>Greedy</c:v>
              </c:pt>
              <c:pt idx="1">
                <c:v>Beam</c:v>
              </c:pt>
            </c:strLit>
          </c:cat>
          <c:val>
            <c:numLit>
              <c:formatCode>0</c:formatCode>
              <c:ptCount val="2"/>
              <c:pt idx="0">
                <c:v>280</c:v>
              </c:pt>
              <c:pt idx="1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B9B9B4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80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Число побед в 16 сценариях</c:v>
          </c:tx>
          <c:spPr>
            <a:solidFill xmlns:a="http://schemas.openxmlformats.org/drawingml/2006/main">
              <a:srgbClr val="111111"/>
            </a:solidFill>
          </c:spPr>
          <c:cat>
            <c:strLit>
              <c:ptCount val="3"/>
              <c:pt idx="0">
                <c:v>RadixSpline</c:v>
              </c:pt>
              <c:pt idx="1">
                <c:v>Eytzinger</c:v>
              </c:pt>
              <c:pt idx="2">
                <c:v>CertiGap</c:v>
              </c:pt>
            </c:strLit>
          </c:cat>
          <c:val>
            <c:numLit>
              <c:formatCode>General</c:formatCode>
              <c:ptCount val="3"/>
              <c:pt idx="0">
                <c:v>9</c:v>
              </c:pt>
              <c:pt idx="1">
                <c:v>7</c:v>
              </c:pt>
              <c:pt idx="2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B9B9B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A5B54-6946-4D9A-924D-59AE21EC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CEF22-12B4-4219-9ABD-CFEE64BE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РЕСПУБЛИКАНСКИЙ КОНКУРС НАУЧНЫХ ПРОЕКТОВ · ИНФОРМАТИКА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BD7BC-6C11-4076-9E1F-C21205A4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685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111"/>
                </a:solidFill>
              </a:defRPr>
            </a:pPr>
            <a:r>
              <a:rPr sz="5850" b="1">
                <a:solidFill>
                  <a:srgbClr val="111111"/>
                </a:solidFill>
              </a:rPr>
              <a:t>CertiGap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49803-631C-4FCF-9ABE-933D6D75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7239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Сертифицируемый компилятор</a:t>
            </a:r>
          </a:p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адаптивных структур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BBE38-FE21-45B3-951C-2489D9C7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819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Workload + ограничения → структура + код + проверяемое объяснение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50F08-C6C1-43A0-86D3-D3264679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57250"/>
            <a:ext cx="1857375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F4D72-AB12-414F-98EE-D22B03D1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EFCD3-DB20-4D23-8D6A-5CD69889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95750"/>
            <a:ext cx="128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НАУЧНАЯ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ЗАЩИТА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CF16C-4809-44F7-8AC2-C4A44981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A8A"/>
                </a:solidFill>
              </a:defRPr>
            </a:pPr>
            <a:r>
              <a:rPr sz="1125" b="0">
                <a:solidFill>
                  <a:srgbClr val="8A8A8A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617903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6D25A-7989-4447-89A6-06E559E4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55FBB-73D8-41B4-89CF-B794A03A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Одна структура не бывает лучшей всегда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929E7-6727-4A7D-B4F7-4F0437FF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DCF82-1174-4153-A984-E9DEAC46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191EB-430B-45F7-BC67-539A6D99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Fenwick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C6BFD-A5B9-4AE2-97F5-B7268CCC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быстрые обновления и суммы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C5B64-76C0-4FB6-BA35-53D0B0CE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431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Prefix sum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565CB-A693-4514-AE20-E0262E1E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0300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идеален при почти неизменных данных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99F12-17D1-4EE9-934E-30162606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Segment tree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D407D-9186-4D8B-9BB7-40D2BE40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универсален, но требует больше памяти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683F5-8071-4E88-A3E1-DD2E62CA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431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Learned / adaptive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D1786-BACD-48E3-B72D-D53720FD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03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выигрывает только при подходящем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4D402-5724-4576-8929-4EA927A5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30DF3-402D-4CEA-B70C-148D50C2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Реальная трудность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290C4C-DFA0-494C-9A0B-262D9A31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Выбрать структуру до того, как известна будущая нагрузка, и не ошибиться при ограниченной памяти.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86253-BE82-44B0-A31C-460326C2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Сегодня это обычно делается вручную и без формального доказательства качества.</a:t>
            </a:r>
          </a:p>
        </p:txBody>
      </p:sp>
    </p:spTree>
    <p:extLst>
      <p:ext uri="{BB962C8B-B14F-4D97-AF65-F5344CB8AC3E}">
        <p14:creationId xmlns:p14="http://schemas.microsoft.com/office/powerpoint/2010/main" val="1783503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542B81-7624-4B0C-B79B-31C103AE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ИНТУИЦИЯ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3B708-F064-4F59-981E-AD2166E6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Пример: каталог с горячими и холодными ключами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72758-5D8E-452C-920D-94729C80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2B97E-73FF-4370-A76A-0EC0AFC5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9F832-AD86-4E08-801A-520F14E9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05A28"/>
                </a:solidFill>
              </a:defRPr>
            </a:pPr>
            <a:r>
              <a:rPr sz="2400" b="1">
                <a:solidFill>
                  <a:srgbClr val="F05A28"/>
                </a:solidFill>
              </a:rPr>
              <a:t>80% запросов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E3BD7-D7C7-4C8F-8661-17CF48F2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приходятся на 5% товаров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A8D94-E2FD-4A44-BE83-66DBE05E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24050"/>
            <a:ext cx="323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C2C90-2383-45B8-AE69-A4EBD230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24050"/>
            <a:ext cx="323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85D7E-2AB5-454D-BDB7-F7BC6EEF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323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B5755-1C61-4713-BE1C-29DD0D0A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24050"/>
            <a:ext cx="323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2E868-CFEF-4111-A9DF-28C53154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323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7EF97-D965-49EB-81DC-708867B1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24050"/>
            <a:ext cx="323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62DC1-ECEF-4F20-9468-47C16ED3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323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BDEED-CAF4-4858-BEB6-305D8BDD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3238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6C0B8-4735-4FD0-B270-D1A063DD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24050"/>
            <a:ext cx="3238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2B5B8-F487-4D91-8069-2F0A48FC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24050"/>
            <a:ext cx="3238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73447-3013-4D60-9D65-80D6E49D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3238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C8F58-9F27-4C6D-A34A-CDA679A7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24050"/>
            <a:ext cx="323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D5249-19CC-42D5-85D7-8C49FDBA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23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9B0CF-EE49-40EA-B2E2-48E260A0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24050"/>
            <a:ext cx="323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54D46-89A0-4B32-AEFF-65B155A6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323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DEDF3C-C726-48AE-AE3E-A335B394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24050"/>
            <a:ext cx="323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0AC717-DCF6-4D13-BB16-986FDC17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24050"/>
            <a:ext cx="323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79F621-E10B-4AB3-9B96-4B6040C9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24050"/>
            <a:ext cx="323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E88840-DEE1-4785-812E-834F6E29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24050"/>
            <a:ext cx="323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A702CB-0AE5-4100-A545-3D892D48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24050"/>
            <a:ext cx="323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9733A9-AA3B-4BF6-987F-795071B6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29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холодная область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1314B3-1606-455B-80A9-BEE08930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29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5A28"/>
                </a:solidFill>
              </a:defRPr>
            </a:pPr>
            <a:r>
              <a:rPr sz="1200" b="1">
                <a:solidFill>
                  <a:srgbClr val="F05A28"/>
                </a:solidFill>
              </a:rPr>
              <a:t>горячая область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729F5D-EBEA-4F94-83F6-A8BB7B0F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8A8A"/>
                </a:solidFill>
              </a:defRPr>
            </a:pPr>
            <a:r>
              <a:rPr sz="1200" b="0">
                <a:solidFill>
                  <a:srgbClr val="8A8A8A"/>
                </a:solidFill>
              </a:rPr>
              <a:t>холодная область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E4B8AE-178A-427B-8D70-0CD3EE21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00500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8B7413-30E2-42F7-996B-67D1ECFB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0687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5F58F3-F969-4D67-B5E4-6F5B8CCA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Идея CertiGap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30E7D8-C2E4-4774-B630-887CFF14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05400"/>
            <a:ext cx="800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Не тратить одинаковый бюджет на все ключи: построить более быстрые пути там, где запросы действительно сосредоточены.</a:t>
            </a:r>
          </a:p>
        </p:txBody>
      </p:sp>
    </p:spTree>
    <p:extLst>
      <p:ext uri="{BB962C8B-B14F-4D97-AF65-F5344CB8AC3E}">
        <p14:creationId xmlns:p14="http://schemas.microsoft.com/office/powerpoint/2010/main" val="11204399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09ADB-6172-4CC8-B520-4ED3D405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ДИЗАЙН ИССЛЕДОВАНИЯ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E2EAD-B07C-4ADB-B3BD-377C077B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Цель, гипотеза и задачи исследования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D380B-2066-4304-A2DC-08ABD748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B7EBF-8F8E-4A95-A537-CC67B718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33084-F729-4490-A2A4-F0BE082A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3333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CEFAD-8FD2-4902-A0DD-FFEF1C27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Цель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CF6AC-8692-4537-B5D9-6E5ADB22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2838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Создать систему, которая выбирает или синтезирует структуру данных под workload и выдаёт независимо проверяемый сертификат.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A2092-744D-4CF7-A2B9-2C7D1025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3333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025C1-9A6B-4EFA-8B28-1E3084F2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05A28"/>
                </a:solidFill>
              </a:defRPr>
            </a:pPr>
            <a:r>
              <a:rPr sz="2025" b="1">
                <a:solidFill>
                  <a:srgbClr val="F05A28"/>
                </a:solidFill>
              </a:rPr>
              <a:t>Гипотеза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83A7E-E97E-4F4D-BF39-609A8045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38450"/>
            <a:ext cx="2838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При ограниченном бюджете и неравномерных запросах частичная адаптивная материализация лучше простых balanced и greedy решений.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D8519-549F-4456-8A4F-9E4D590C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05000"/>
            <a:ext cx="3333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3EBBD-7B36-47E8-80E8-B5D8E1EB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Задачи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3D810-E59B-44CC-9A0B-D600C948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2838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Формализовать стоимость; создать exact и scalable алгоритмы; проверить корректность; сравнить baselines; реализовать C++/Python/SQLite.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E2A56-9F49-4BC3-A82A-09AC82C8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1064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Независимая переменная: распределение операций и бюджет.  Метрики: objective gap, latency, память, regret и корректность сертификата.</a:t>
            </a:r>
          </a:p>
        </p:txBody>
      </p:sp>
    </p:spTree>
    <p:extLst>
      <p:ext uri="{BB962C8B-B14F-4D97-AF65-F5344CB8AC3E}">
        <p14:creationId xmlns:p14="http://schemas.microsoft.com/office/powerpoint/2010/main" val="17373193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500AF-554F-4412-AC76-40E23090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МЕТОД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A5BAE-1C18-42DA-AACC-CA752A80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Формальная модель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17D22-82F7-42BF-8538-5638DEA4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85B9A-E2C2-4C81-9B5E-05EE5FC3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7804B-E45B-4F90-8C16-0FD48E16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Вход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51B25-1103-4ECE-8FDB-41705318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• отсортированные ключи x₁…xₙ</a:t>
            </a:r>
          </a:p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• частоты запросов pᵢ</a:t>
            </a:r>
          </a:p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• бюджет B разделений</a:t>
            </a:r>
          </a:p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• стоимость fallback 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B42CF-A0FC-4F96-85FC-15D46E19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Оптимизация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452B8-B216-45E1-97A4-4CC768FF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24100"/>
            <a:ext cx="4095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CDCCD-C97C-402E-BADF-FD709444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min   Σ pᵢ · cost(i, T)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 T: splits(T) ≤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D3312-9626-404C-BC01-2291621C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Выход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2B3B2-090E-4AD1-9060-6D5382EB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05050"/>
            <a:ext cx="266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• частичная структура T</a:t>
            </a:r>
          </a:p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• ожидаемая стоимость</a:t>
            </a:r>
          </a:p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• нижняя граница</a:t>
            </a:r>
          </a:p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• сертификат проверки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3602A-95F4-4C43-94C6-538F0290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480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7B859-9E17-4A49-A42D-AD820C13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990975" y="2981325"/>
            <a:ext cx="171450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45772-5F65-4618-B448-5A8DC5DE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480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A59AC-05CD-4AA3-9389-D5636C9F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39175" y="2981325"/>
            <a:ext cx="171450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D2111-EE5D-4704-89E9-99F1AB02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1010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F75DE-FCEA-412D-84C3-38CF2B8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Ключевое отличие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C2122-65FA-4909-996D-D80EF173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33950"/>
            <a:ext cx="833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Мы оптимизируем не только форму полного дерева, а какую часть порядка вообще выгодно материализовать.</a:t>
            </a:r>
          </a:p>
        </p:txBody>
      </p:sp>
    </p:spTree>
    <p:extLst>
      <p:ext uri="{BB962C8B-B14F-4D97-AF65-F5344CB8AC3E}">
        <p14:creationId xmlns:p14="http://schemas.microsoft.com/office/powerpoint/2010/main" val="18920091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2E6171-E61F-4AF1-B3EB-9A2BF48F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C4ACB-9B98-4E99-AE84-ACEB8D74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Одна система вместо набора несвязанных модулей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12530-6698-42F2-9641-228955A9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D41D3-776B-455A-BC46-95447BB8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204B1-F71E-4BF0-BAA7-0D1816DD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62300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A50AE-4D7E-45B7-9F99-F4CBF805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33600" y="3095625"/>
            <a:ext cx="171450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C2F95-9643-4356-93CF-FCD504EB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1428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ED794-2954-40FB-96B5-2DB6DC2F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5E314-4E4C-411F-8EF5-01EB8731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186E7-6BEE-4615-BE90-1B621BF5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профиль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операций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E4FFC-3998-44B7-AB85-2B7FD62B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162300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B8818-37C8-4922-A9F8-9319C1F6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38600" y="3095625"/>
            <a:ext cx="171450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38A10-F854-4C2A-A3C3-502CD853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43150"/>
            <a:ext cx="1428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0F595-70C8-438A-A4CE-7A1C28CD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0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4A481-1CE4-4ECB-91BD-2E5A5A5C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43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F9C42-2233-4703-AE14-87D2DD51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3375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выбор из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8 структур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C1FE7-2505-44EA-9770-1ADFF8CC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62300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4AF95-974A-4202-B992-76EA09B3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43600" y="3095625"/>
            <a:ext cx="171450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F4DDAD-4942-4151-A73C-A49AC286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1428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8353C-E3F3-4712-A775-D353A131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0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5DADB-8A08-4090-B7DB-8DC2DDBA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43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SYNTHESIZE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EE5C9-5FB6-4086-BF5E-48838A8A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CertiGap-X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и 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F0A3F2-130E-4411-BF22-A3C008E4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162300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FBD6F-57F5-4167-8D84-68B17A6D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48600" y="3095625"/>
            <a:ext cx="171450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09CC1C-380E-4D89-BAA5-F2D8BC2D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428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30155A-6485-4C9D-BAE1-008D15D7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0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48182D-F180-4797-A20A-920E7F06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43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VERIFY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AE5B2A-2466-4AE2-95B9-6AEF9FA7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сертификат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и verifier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6EFFBE-74C1-4825-B1ED-5136AB0F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62300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63737D-68B1-4ED6-91F6-1F670E46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53600" y="3095625"/>
            <a:ext cx="171450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821FC-84C3-4CF5-AD9C-48A7EA42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43150"/>
            <a:ext cx="1428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0D4614-3751-4595-826A-B0C5249B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0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95453A-4294-410F-83BF-F12F5B99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43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DEPLOY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5D9FE7-4D9F-4182-A787-9817AA74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C++ · Python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SQLite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108250-1D01-43B7-847D-5D74633B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43150"/>
            <a:ext cx="14287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68DEB4-F46A-40A0-A253-396C3FF5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05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741123-17FA-45CB-BADB-8AC25B6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432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ADAPT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1EBFD5-2B01-4527-8F2B-65070C77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3375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tracking</a:t>
            </a:r>
          </a:p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и safety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BF5B92-C833-4189-94AE-BF9A7E1E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Единый контракт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733369-E0CF-432B-A1AB-52853E6B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workload + допустимые операции + ограничение памяти → исполняемая структура + доказательство выбора</a:t>
            </a:r>
          </a:p>
        </p:txBody>
      </p:sp>
    </p:spTree>
    <p:extLst>
      <p:ext uri="{BB962C8B-B14F-4D97-AF65-F5344CB8AC3E}">
        <p14:creationId xmlns:p14="http://schemas.microsoft.com/office/powerpoint/2010/main" val="20080103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65675-2622-432D-85F7-9DF82FC8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ПОРТФЕЛЬ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54E82-21FE-4A1A-989D-AF432EC9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AutoIndex сначала рассматривает классические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54C4C-37C6-465F-8455-AD7436F9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3F83D-62A7-4D5B-83A7-3CC8AF3D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961C4-3412-43F6-9E92-6130B2C1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5336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440C5-55DC-4A83-B3E3-F04A6576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Sorted array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CFD5A-0E2C-4ADD-A011-7349B42D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точки · мало памяти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F3AE2-59EB-4919-945C-1EC16472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5336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F0835-2A49-4E00-8615-8C998AE9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193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Prefix sum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702C0-E516-4115-9FAC-D84E3088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33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статические суммы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BD8A1-C2E8-4F98-83BA-5D675E43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25336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BAF5C-FE21-4F06-9001-E95C5358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193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Fenwick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03DC1-CDF7-4FD0-A974-7678AF62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суммы + обновления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D47C3-B35C-4816-BDAB-1AE4A2AD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5336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E3B18-2412-41A9-9389-695C803E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193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Sqrt decomposition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43BFF-76F4-4407-A4BB-DE5C9501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жёсткий бюджет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9CFC5-5942-4AE8-98FA-5A31DF49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0"/>
            <a:ext cx="25336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D456C-38F9-49B8-B8D5-4C68B4C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Segment tree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477FB-8CA6-4C0A-AEB7-AD5A68E8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общие агрегаты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C5061-D9F6-4173-B43D-E4CF8C44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19500"/>
            <a:ext cx="25336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CDD69-49BA-4BF2-92E9-DD09AF13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29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Sparse 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58041-3147-4905-A0B7-83AD8530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434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статические min/max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79FB42-5C9B-4B51-9A7E-3E4B6B8A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25336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1E52DB-EA69-457A-9F86-229C9EAE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</a:defRPr>
            </a:pPr>
            <a:r>
              <a:rPr sz="1500" b="1">
                <a:solidFill>
                  <a:srgbClr val="F05A28"/>
                </a:solidFill>
              </a:rPr>
              <a:t>CertiRange Point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D57757-72D6-4DAD-8EE2-86949273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434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скошенные точки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3BFDF6-2E9B-46F8-AD68-1FCFD36C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19500"/>
            <a:ext cx="25336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9A2BEB-91B1-4EEF-8177-5DF30C1E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29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</a:defRPr>
            </a:pPr>
            <a:r>
              <a:rPr sz="1500" b="1">
                <a:solidFill>
                  <a:srgbClr val="F05A28"/>
                </a:solidFill>
              </a:rPr>
              <a:t>CertiRange Range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298F87-1810-4B80-A5EB-A8501051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434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скошенные диапазоны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4F98DC-424D-411D-B9DD-831825EB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Если Fenwick или prefix sum лучше, система обязана выбрать их — CertiGap не навязывает собственный алгоритм.</a:t>
            </a:r>
          </a:p>
        </p:txBody>
      </p:sp>
    </p:spTree>
    <p:extLst>
      <p:ext uri="{BB962C8B-B14F-4D97-AF65-F5344CB8AC3E}">
        <p14:creationId xmlns:p14="http://schemas.microsoft.com/office/powerpoint/2010/main" val="3339683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321B66-4000-493F-B9EF-D99EB734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АЛГОРИТМЫ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A3C84-74F1-40A1-AF52-2A44590A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Алгоритмическое ядро: точность там, где возможно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8C2DF-6E0D-4BEA-84A8-51EA15E2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4D7DE-06C2-4BA0-A633-EA18C83E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874C7-22BC-4AAC-8E17-5CE16C12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BEBF9-A10C-4FAE-965D-96F7D441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8A8A"/>
                </a:solidFill>
              </a:defRPr>
            </a:pPr>
            <a:r>
              <a:rPr sz="1275" b="1">
                <a:solidFill>
                  <a:srgbClr val="8A8A8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D2B59-E291-4A4D-9EED-A08FC40D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954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Exact frontier DP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C8054-7597-434E-B6D5-1925BC3E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24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глобальный optimum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81E69-67C6-43B0-BA00-380BC333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малые/средние задачи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3E7A1-32A2-4DDB-BBF9-632EF90B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38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AED9D-D80B-4037-A603-8B74FF02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289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3AF61-DBB5-4C6E-A90C-495E676D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0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Beam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6FF81-159D-4F19-AC6F-68DF8872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289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почти exact в тестах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7FE1C-D392-4572-8DDD-70B59906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289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масштабируемый путь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B3485-23AF-45CE-9F19-07673E13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89B97-D3EE-4234-814F-97D92AA8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8A8A"/>
                </a:solidFill>
              </a:defRPr>
            </a:pPr>
            <a:r>
              <a:rPr sz="1275" b="1">
                <a:solidFill>
                  <a:srgbClr val="8A8A8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67E5C-CDDE-4171-A49D-AE3F6BC7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052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Branch-and-Bound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A7FD6-8EA1-4B04-91AE-13246C52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upper/lower bound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F2953-2296-4C78-A148-6F6E3C1F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anytime TV-DRO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D22F7-5268-4DFE-A267-27005445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482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7BE8B-ED81-44BD-A554-0A600267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386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8A8A"/>
                </a:solidFill>
              </a:defRPr>
            </a:pPr>
            <a:r>
              <a:rPr sz="1275" b="1">
                <a:solidFill>
                  <a:srgbClr val="8A8A8A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552A2-BAC1-4767-BA7D-2BFE671B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Greedy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E6377-0784-4F0F-BF9E-CC525A52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386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быстрый 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B10C3C-8CB6-4798-B89D-1C3C3DDA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386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может ошибаться сильно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8C76F9-E4C4-4133-B139-9DC0766E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007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F3B89-E520-4B9B-ADB5-83BE2C76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На малых задачах exact служит oracle; на больших beam получает проверяемый upper bound и сравнивается с lower bound.</a:t>
            </a:r>
          </a:p>
        </p:txBody>
      </p:sp>
    </p:spTree>
    <p:extLst>
      <p:ext uri="{BB962C8B-B14F-4D97-AF65-F5344CB8AC3E}">
        <p14:creationId xmlns:p14="http://schemas.microsoft.com/office/powerpoint/2010/main" val="16432189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AD15C9-C28D-464A-A1A6-19E9DE87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ПРОВЕРЯЕМОСТЬ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D20AA-C5B4-4D07-AD19-120B55CE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Сертификат отделяет утверждение от доверия к программе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CD5E4-60B2-4DF7-834B-2C439D7D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4B9DF-72CA-4C4F-AC85-A668E1C2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5C8D3-2D44-451C-8A06-9E6113BD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4762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44CC9-2F16-4BFD-AA95-40AB8346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CERTIFICATE.json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E013A-C636-4294-8373-49ABAD72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3381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input_hash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constraints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candidate_frontier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selected_design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objective_upper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objective_lower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tie_break_rule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BDDAC-1DDB-41EF-90D8-95AAAA5A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9570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4EE60-6AB2-40DD-A4EF-7E1B5005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00800" y="3629025"/>
            <a:ext cx="171450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6460B-B368-4F73-A052-373C9728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Independent verifier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BD314-B72B-4771-A33D-28383401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F5AE9-A94A-439F-803E-4EE69EE3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321F4-4040-4810-A492-31652060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восстанавливает кандидатов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563A1-3509-4CE0-927F-B59FC5F2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568A5-6999-483F-A912-38FD0A02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956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2EB97-2372-4135-BDB4-858434AB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766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повторно считает стоимость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09FA8-3F7F-408A-A794-AAEDE816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15EE4-7ACE-437A-A32F-4955C320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862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98E260-A0F3-4E5E-BBDC-3AB77406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671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проверяет бюджет и возможности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B4D7B-93DA-4654-A355-0A26EAC4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8BBED-D3D7-42A7-8755-CACCBD20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76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28FF7C-90A3-4C3A-B5C6-1F2FD77F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577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проверяет tie-break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51049-FF0C-4937-A7EA-F1C8FF94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82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F951D-B50B-477F-8B82-B9202682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673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F5D48D-543A-4F82-B154-6734993C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48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принимает или отклоняет artifact</a:t>
            </a:r>
          </a:p>
        </p:txBody>
      </p:sp>
    </p:spTree>
    <p:extLst>
      <p:ext uri="{BB962C8B-B14F-4D97-AF65-F5344CB8AC3E}">
        <p14:creationId xmlns:p14="http://schemas.microsoft.com/office/powerpoint/2010/main" val="7372351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76244-855B-4DA9-9EDD-114CDD4E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РЕЗУЛЬТАТ 1 · КАЧЕСТВО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73161-07E2-4B7E-938A-CA4E1A6E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Beam практически совпадает с точным решением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02452-D975-45AB-93C7-9564CD55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1A5E4-24CF-4838-96B3-5EB5739F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10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95300" y="1771650"/>
          <a:ext xmlns:a="http://schemas.openxmlformats.org/drawingml/2006/main" cx="6572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dfcf390c75452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13579-7E71-424C-BA22-5E4C6281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714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840E9-C71A-4C32-8F25-C5E3670B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5740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05A28"/>
                </a:solidFill>
              </a:defRPr>
            </a:pPr>
            <a:r>
              <a:rPr sz="3675" b="1">
                <a:solidFill>
                  <a:srgbClr val="F05A28"/>
                </a:solidFill>
              </a:rPr>
              <a:t>237/240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D056F-C285-49AE-B111-268D1B59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совпадений Beam с exact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FF8AB-7838-4956-8412-F3B4F6A6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3714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56DFB-A292-41FD-A877-53300B29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62400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11111"/>
                </a:solidFill>
              </a:defRPr>
            </a:pPr>
            <a:r>
              <a:rPr sz="3675" b="1">
                <a:solidFill>
                  <a:srgbClr val="111111"/>
                </a:solidFill>
              </a:rPr>
              <a:t>104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FBDAF-20DE-4F62-ACD8-54C869E2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81550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случая, где Beam лучше Greedy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B709B-77D4-4496-82F4-0E5CB010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78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A8A"/>
                </a:solidFill>
              </a:defRPr>
            </a:pPr>
            <a:r>
              <a:rPr sz="1125" b="0">
                <a:solidFill>
                  <a:srgbClr val="8A8A8A"/>
                </a:solidFill>
              </a:rPr>
              <a:t>Средний relative objective gap: 280 bp = 2,80%; 2 bp = 0,02% · 240 benchmark rows</a:t>
            </a:r>
          </a:p>
        </p:txBody>
      </p:sp>
    </p:spTree>
    <p:extLst>
      <p:ext uri="{BB962C8B-B14F-4D97-AF65-F5344CB8AC3E}">
        <p14:creationId xmlns:p14="http://schemas.microsoft.com/office/powerpoint/2010/main" val="152588649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9CDEC-2449-4E63-9DC7-5D77857B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РЕЗУЛЬТАТ 2 · C++ LATENCY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00A73-E8A0-4D75-9801-4169D7A9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Синтезированная структура выигрывает не всегда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3FC1E-538F-45FB-8F7B-A48F249B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CB329-DA3A-4080-B6A8-73B6B5D0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A291F-1653-4EBB-BCC5-31642AC2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3333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9512A-AB4E-4A7F-A604-E957110B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05A28"/>
                </a:solidFill>
              </a:defRPr>
            </a:pPr>
            <a:r>
              <a:rPr sz="3675" b="1">
                <a:solidFill>
                  <a:srgbClr val="F05A28"/>
                </a:solidFill>
              </a:rPr>
              <a:t>9/11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6147D-EB2C-462A-A191-693327D0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CertiGap-H быстрее Fenwick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706A3-482E-4BA3-9DB3-C89F0D2D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66900"/>
            <a:ext cx="3333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E4407-1F4A-47F8-A597-F635CFF3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14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11111"/>
                </a:solidFill>
              </a:defRPr>
            </a:pPr>
            <a:r>
              <a:rPr sz="3675" b="1">
                <a:solidFill>
                  <a:srgbClr val="111111"/>
                </a:solidFill>
              </a:rPr>
              <a:t>10/11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A9C9A-7BA7-4661-A120-F3010B25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быстрее uniform-prefix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A43BE-F651-4510-93D8-C86B51B4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66900"/>
            <a:ext cx="3333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9B72B-9787-440B-B2CB-4A62D74B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11111"/>
                </a:solidFill>
              </a:defRPr>
            </a:pPr>
            <a:r>
              <a:rPr sz="3675" b="1">
                <a:solidFill>
                  <a:srgbClr val="111111"/>
                </a:solidFill>
              </a:rPr>
              <a:t>4/11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773C3-298A-4F58-8958-6BB27598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самый быстрый среди всех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FF34F-013E-42BD-8A6E-047C485B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62400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E3400-164C-4CB7-BDC6-429AD751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58"/>
                </a:solidFill>
              </a:defRPr>
            </a:pPr>
            <a:r>
              <a:rPr sz="1800" b="1">
                <a:solidFill>
                  <a:srgbClr val="2F7D58"/>
                </a:solidFill>
              </a:rPr>
              <a:t>Где побеждает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85597-64CF-4008-A4CB-F4D51188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read-heavy · hot/cold skew · статические каталоги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8CD79-944D-473F-96E7-5542A1EF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33A3A"/>
                </a:solidFill>
              </a:defRPr>
            </a:pPr>
            <a:r>
              <a:rPr sz="1800" b="1">
                <a:solidFill>
                  <a:srgbClr val="B33A3A"/>
                </a:solidFill>
              </a:rPr>
              <a:t>Где проигрывает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5F6DC-D371-4617-8251-311525A6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30% и 50% updates · uniform workload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DBD66-82A8-4890-BFF2-C75C10C5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Apple M4 · committed 11-scenario holdout</a:t>
            </a:r>
          </a:p>
        </p:txBody>
      </p:sp>
    </p:spTree>
    <p:extLst>
      <p:ext uri="{BB962C8B-B14F-4D97-AF65-F5344CB8AC3E}">
        <p14:creationId xmlns:p14="http://schemas.microsoft.com/office/powerpoint/2010/main" val="207867848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4D37A-E94C-4020-AB4B-1E5102FD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РЕЗУЛЬТАТ 3 · SOSD-DERIVED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AE175-A827-49F0-B66E-81248308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На реальном поиске преимущество скромнее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ED960-BFE1-4402-8E0F-121DACDA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4EEC1-0F6E-499A-A3C1-42D8D76F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12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95300" y="1790700"/>
          <a:ext xmlns:a="http://schemas.openxmlformats.org/drawingml/2006/main" cx="6191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61541c010f4fc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CCC87-D29A-4001-AFB5-EC64A350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431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05A28"/>
                </a:solidFill>
              </a:defRPr>
            </a:pPr>
            <a:r>
              <a:rPr sz="4200" b="1">
                <a:solidFill>
                  <a:srgbClr val="F05A28"/>
                </a:solidFill>
              </a:rPr>
              <a:t>10/16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E121F-91F6-4970-A4DA-66F3AFCA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побед над std::lower_bound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9848F-AE34-4126-BEDC-FECFBBBE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814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до 1,18×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96609-E63E-4F84-B49F-CA7955DB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95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лучшее ускорение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A2031-07F5-4C26-B1DE-0ECF0EA1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95850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702E5-234B-4382-922A-E8FEB98F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76825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5A28"/>
                </a:solidFill>
              </a:defRPr>
            </a:pPr>
            <a:r>
              <a:rPr sz="1500" b="1">
                <a:solidFill>
                  <a:srgbClr val="F05A28"/>
                </a:solidFill>
              </a:rPr>
              <a:t>Но CertiGap ни разу не был самым быстрым.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D96C4-3FE6-42C7-9C6E-4922B9B8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4 SOSD distributions · 16 synthetic workload cases</a:t>
            </a:r>
          </a:p>
        </p:txBody>
      </p:sp>
    </p:spTree>
    <p:extLst>
      <p:ext uri="{BB962C8B-B14F-4D97-AF65-F5344CB8AC3E}">
        <p14:creationId xmlns:p14="http://schemas.microsoft.com/office/powerpoint/2010/main" val="4713194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4CA891-4EC3-47BA-9339-A82BDA59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РОБАСТНОСТЬ И ADAPTATION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75F51-C691-490D-B2F1-35A5B0E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Нагрузка меняется — решение должно уметь отступить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076BA-AA8F-4002-92A5-E7F4FD2C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1B846-3892-4662-AD1A-0A90820F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537F3-5926-4263-A672-FAE774FA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289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4EFAA-A43B-4CDE-ACFC-B46EC13B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400300" y="2962275"/>
            <a:ext cx="171450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54CEC-6C82-4A7B-AE37-DA480CB8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1638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33BDB-F685-4EBD-BED5-354A3893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5A28"/>
                </a:solidFill>
              </a:defRPr>
            </a:pPr>
            <a:r>
              <a:rPr sz="1200" b="1">
                <a:solidFill>
                  <a:srgbClr val="F05A28"/>
                </a:solidFill>
              </a:rPr>
              <a:t>TRAIN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EC9ED-FC47-4EE2-8582-4C422C0D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построить профиль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E2A9D-1753-4804-8C86-6295F1E5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33DB1-199E-4C9B-AD53-55751EA8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72000" y="2962275"/>
            <a:ext cx="171450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2FDC7-BAF7-433B-886F-23684D07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66950"/>
            <a:ext cx="1638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20D26-232E-4577-B8B7-CFCC43D1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2412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5A28"/>
                </a:solidFill>
              </a:defRPr>
            </a:pPr>
            <a:r>
              <a:rPr sz="1200" b="1">
                <a:solidFill>
                  <a:srgbClr val="F05A28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05B0B-9E69-4994-BDCE-EB686904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289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проверить отдельно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6F0AB-6584-40BE-8C8E-17D0048B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5DD0B-93E1-4A49-8F05-7A2DD108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43700" y="2962275"/>
            <a:ext cx="171450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B797E-A1A8-445F-AEDF-C28CFE42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66950"/>
            <a:ext cx="1638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1C8E7-9D94-4573-A51E-62A29615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2412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5A28"/>
                </a:solidFill>
              </a:defRPr>
            </a:pPr>
            <a:r>
              <a:rPr sz="1200" b="1">
                <a:solidFill>
                  <a:srgbClr val="F05A28"/>
                </a:solidFill>
              </a:rPr>
              <a:t>DEPLOY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D2E7C-5EE1-443B-A0BB-ADC2806D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включить кандидат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23BD8-D907-414D-91B9-EFF41240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E14233-DEC6-4953-A2FD-EFA38EBA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15400" y="2962275"/>
            <a:ext cx="171450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28C89-5E67-4078-9CBA-F8A933B8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66950"/>
            <a:ext cx="1638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FF6F0-C74B-46E4-812D-0BA87647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2412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5A28"/>
                </a:solidFill>
              </a:defRPr>
            </a:pPr>
            <a:r>
              <a:rPr sz="1200" b="1">
                <a:solidFill>
                  <a:srgbClr val="F05A28"/>
                </a:solidFill>
              </a:rPr>
              <a:t>MONITOR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B7EDA-7681-49A1-86BA-370481C1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289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следить за harm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CC044D-2E6E-45A3-A6E7-7E2528B2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66950"/>
            <a:ext cx="1638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F0A91-13C1-42F8-907F-E637FFA2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2412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REVOKE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2577E4-1F3E-4DF0-AC20-21A4778C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вернуть baseline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EC45F4-82A0-4F59-99CC-41DF41C4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SafeAutoIndex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A0F36-8560-4873-904C-449A7C24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включает специализацию только после bounded-harm проверки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DF4878-F7F3-4311-A563-8DA10F7A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Sequential / Martingale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9D7BCE-DFDA-4A38-AF59-23265B6D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поддерживает многократную проверку и отзыв при доказанном вреде</a:t>
            </a:r>
          </a:p>
        </p:txBody>
      </p:sp>
    </p:spTree>
    <p:extLst>
      <p:ext uri="{BB962C8B-B14F-4D97-AF65-F5344CB8AC3E}">
        <p14:creationId xmlns:p14="http://schemas.microsoft.com/office/powerpoint/2010/main" val="70811328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5145B2-8B8B-4CB4-962F-0F5CD0AF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ПРАКТИЧЕСКАЯ РЕАЛИЗАЦИЯ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F3A11-57F4-4AD6-8149-C718686D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Исследование доведено до исполняемого toolkit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D5880-D597-48D5-A676-D889CCF0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F91C2-782A-42AD-9878-ED0F42D0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C59D7-16B0-4297-AE36-20D5CA87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C8599-708B-4CEA-8494-9D6CEA63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C++17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BD87A-4D50-491D-8984-73B1CFE3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single header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CMake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269B0-5977-49AD-A8AC-7A9988EF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57375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57C10-84DB-4AE2-AE29-9A17522B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43125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B81FE-23C9-4F98-A16B-4FFDD3A0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52750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AdaptiveArray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CLI compiler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4842C-2392-431B-9781-33E7798E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57375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412FA-6770-4090-A334-8EE2B73B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SQLite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D5194-6A97-4E43-95FA-F84A0154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loadable extension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virtual 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AB0D6-C88D-4C35-AC25-FA27632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57375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3127F-10E4-45DF-BF3C-3C60AEAD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01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Research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7119F-1066-4559-954C-9E1306B6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paper · tests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reproduction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1173E-7569-43B6-993F-A1F59DF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107061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9AB7A-9AF2-4E88-BEE7-11E4C994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Минимальный путь использования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C6A40-7A9D-4F29-B147-9ECA09CD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adaptive_array(values) → обычные range/update → explain()</a:t>
            </a:r>
          </a:p>
        </p:txBody>
      </p:sp>
    </p:spTree>
    <p:extLst>
      <p:ext uri="{BB962C8B-B14F-4D97-AF65-F5344CB8AC3E}">
        <p14:creationId xmlns:p14="http://schemas.microsoft.com/office/powerpoint/2010/main" val="42613472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62B11-148D-49A6-82F5-6C95F3B9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ВКЛАД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E41C0-C9A1-4F2C-84F0-09BA3C77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Научная новизна — в проверяемом цикле выбора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3EE28-ACB3-4193-A97D-32D75ED7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67819-1ABB-4A12-AC48-9C0278C0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35B68-B9B8-4C09-949D-138016E5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33A3A"/>
                </a:solidFill>
              </a:defRPr>
            </a:pPr>
            <a:r>
              <a:rPr sz="1725" b="1">
                <a:solidFill>
                  <a:srgbClr val="B33A3A"/>
                </a:solidFill>
              </a:rPr>
              <a:t>Не заявляется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5D153-A46B-416C-9502-1FD94265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323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«первая адаптивная структура»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«всегда быстрее Fenwick»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«глобально оптимальна везде»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861AC-1433-4018-8EE8-91D3001E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D58"/>
                </a:solidFill>
              </a:defRPr>
            </a:pPr>
            <a:r>
              <a:rPr sz="1725" b="1">
                <a:solidFill>
                  <a:srgbClr val="2F7D58"/>
                </a:solidFill>
              </a:rPr>
              <a:t>Заявляется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14610-9D26-4544-A658-1884CDAB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Сертифицируемая budgeted partial materialization при ненадёжном прогнозе внутри объявленной грамматики.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364A9-2767-4A9D-8B9F-3E42D900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CDA54-BD06-4325-BB8B-8D1252A2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5A28"/>
                </a:solidFill>
              </a:defRPr>
            </a:pPr>
            <a:r>
              <a:rPr sz="1725" b="1">
                <a:solidFill>
                  <a:srgbClr val="F05A28"/>
                </a:solidFill>
              </a:rPr>
              <a:t>Собственный вклад автора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85521-7B0B-48A3-8303-70F058EC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43400"/>
            <a:ext cx="685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1. Формализация задачи и cost model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2. Exact DP, beam и проверяемые границы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3. CertiGap-X/H и AutoIndex portfolio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4. Независимые verifier-ы и сертификаты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5. Реализация, тесты и воспроизводимые benchmarks</a:t>
            </a:r>
          </a:p>
        </p:txBody>
      </p:sp>
    </p:spTree>
    <p:extLst>
      <p:ext uri="{BB962C8B-B14F-4D97-AF65-F5344CB8AC3E}">
        <p14:creationId xmlns:p14="http://schemas.microsoft.com/office/powerpoint/2010/main" val="63540302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E03663-031D-4F9F-9074-122215BD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B1680-F7FF-4FB6-89F6-C4EDA215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Честные границы текущей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C6217-69C9-4691-8094-9CBC9596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541A8-D86A-4384-8A86-E9447AD7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8F23E-65F7-42FB-8C98-53886281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952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AE629-1EDA-4FB6-922E-5D20A5B5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Доказано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5F6A9-390D-497B-82FB-DDFA8618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76425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оптимум структурного score в объявленной грамматике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B3D9D-0DB9-4CEB-A3EC-960C6A0C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9825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376B8-7A2C-417F-8A49-2B66778D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81275"/>
            <a:ext cx="1952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C28F5-D5D1-4489-9756-FB9E7BAE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Измерено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4B953-A595-464C-99C4-F92CBDD3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0510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latency на Apple M4 и зафиксированных workloads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15209-6034-4F77-A138-1A91D7C6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3850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A5363-1DF5-4D7E-918C-874A39E1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9950"/>
            <a:ext cx="1952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169A9-5A52-49B9-9503-51B2B579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Не доказано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7E96A-C1E4-4ABE-85F0-E0ABF093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33775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универсальное превосходство по реальному времени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676A5-CA81-4018-85DA-C7D6A49D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67175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89047-AE1D-452A-A587-B5483997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8625"/>
            <a:ext cx="1952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7978F-8552-47F9-971C-3BB64F1F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Требуется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3B5B1E-5883-445C-BFEB-32AC3AF7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6245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независимая репликация Intel/AMD/ARM Linux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E6D51-DD1A-48B3-B536-A29FEC69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95850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073A11-F71A-4117-8035-9CF4455B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1952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D284F-F913-4B38-8BB8-910C642A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Требуется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E7F178-217A-428B-A14D-E032B98C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91125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официальный YCSB/RocksDB и matched learned-index baselines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7AB23A-9E87-4550-A787-6E2CB673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24525"/>
            <a:ext cx="833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47156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8BF52-6D21-423A-B7B2-AC625AE6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ВЫВОД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EF294-E8CD-4B07-A73C-6FA79A51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CertiGap превращает выбор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структуры данных в проверяемый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процесс, а не ручную догадку.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EFDF9-E810-4EA2-95EC-D8F02A45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14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46939-FD1E-4099-9BF6-3BC8DC71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Когда помогает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807ED-A273-42BC-95E7-46AE76F9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20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ограниченная память · неравномерные запросы · read-heavy workload · необходимость доказуемого выбора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CFBA8-3F94-424E-A666-FE01A37F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076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05A28"/>
                </a:solidFill>
              </a:defRPr>
            </a:pPr>
            <a:r>
              <a:rPr sz="1725" b="1">
                <a:solidFill>
                  <a:srgbClr val="F05A28"/>
                </a:solidFill>
              </a:rPr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95205784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6A009-196F-4049-BA79-C309778B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</a:defRPr>
            </a:pPr>
            <a:r>
              <a:rPr sz="1050" b="1">
                <a:solidFill>
                  <a:srgbClr val="F05A28"/>
                </a:solidFill>
              </a:rPr>
              <a:t>РЕЗЕРВНЫЙ СЛАЙД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C5032-6A38-4A16-8D04-40B2A97E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Источники и воспроизводимость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30D87-949A-4DFC-80A0-A7284794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46E72-ACB0-49CF-B09B-794BB7B2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24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3A409-7299-4AA5-871F-E432A98C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07156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Правила РКНП: eGov Kazakhstan, обновлено 24.02.2026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Формат финальной защиты: открытая выставка по требованиям Regeneron ISEF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Реестр утверждений: docs/CLAIMS.md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Методы: docs/FORMALIZATION.md, SYNTHESIS.md, HYBRID.md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Результаты: results/summary.md, synthesis_native_latency.md, sosd_streaming.md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Воспроизведение: docs/REPRODUCIBILITY.md и verify_artifacts.py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</a:defRPr>
            </a:pPr>
            <a:r>
              <a:rPr sz="1650">
                <a:solidFill>
                  <a:srgbClr val="111111"/>
                </a:solidFill>
              </a:rPr>
              <a:t>Исходный код: github.com/nazkari86-lab/certigap-toolkit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6B716-E463-4019-B975-C15E1AF1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95900"/>
            <a:ext cx="10715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6F991-7DEB-4059-B1E3-8D454635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23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Все численные утверждения в презентации связаны с зафиксированными CSV, metadata и проверяемыми artifacts.</a:t>
            </a:r>
          </a:p>
        </p:txBody>
      </p:sp>
    </p:spTree>
    <p:extLst>
      <p:ext uri="{BB962C8B-B14F-4D97-AF65-F5344CB8AC3E}">
        <p14:creationId xmlns:p14="http://schemas.microsoft.com/office/powerpoint/2010/main" val="1940430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2026-08-03T09:03:34.2500000Z</dcterms:created>
  <dcterms:modified xsi:type="dcterms:W3CDTF">2026-08-03T09:03:34.2500000Z</dcterms:modified>
</coreProperties>
</file>